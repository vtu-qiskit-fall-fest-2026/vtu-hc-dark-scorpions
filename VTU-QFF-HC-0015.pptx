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9EE"/>
    <a:srgbClr val="DDE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9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QAOA Lab: Cloud-Based Quantum-Classical Comparison for Network Optimisation</a:t>
            </a:r>
            <a:endParaRPr lang="en-IN" altLang="en-US" sz="9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10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Cloud-Based Applications </a:t>
            </a:r>
            <a:endParaRPr lang="en-IN" altLang="en-US" sz="10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Scorpions</a:t>
            </a:r>
            <a:endParaRPr lang="en-IN" altLang="en-US" sz="12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Aditya B Koparde</a:t>
            </a:r>
            <a:endParaRPr lang="en-IN" altLang="en-US" sz="12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adityakoparde001@gmail.com</a:t>
            </a:r>
            <a:endParaRPr lang="en-IN" altLang="en-US" sz="12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Aditya B Koparde</a:t>
            </a:r>
            <a:r>
              <a:rPr 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</a:t>
            </a:r>
            <a:r>
              <a:rPr lang="en-IN" alt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Jeswin J Lazarus </a:t>
            </a:r>
            <a:r>
              <a:rPr 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</a:t>
            </a:r>
            <a:r>
              <a:rPr lang="en-IN" altLang="en-US" sz="12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Tejas Vithal Kadam</a:t>
            </a:r>
            <a:endParaRPr lang="en-IN" altLang="en-US" sz="12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/ ORGANISATION</a:t>
            </a:r>
            <a:endParaRPr lang="en-US" sz="900" dirty="0"/>
          </a:p>
          <a:p>
            <a:pPr marL="0" algn="l">
              <a:buClrTx/>
              <a:buSzTx/>
              <a:buFontTx/>
              <a:buNone/>
            </a:pPr>
            <a:r>
              <a:rPr lang="en-IN" altLang="en-US" sz="10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</a:t>
            </a:r>
            <a:endParaRPr lang="en-IN" altLang="en-US" sz="1000" i="1" dirty="0">
              <a:solidFill>
                <a:srgbClr val="6F73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IN" altLang="en-US" sz="900" dirty="0"/>
              <a:t>India</a:t>
            </a:r>
            <a:endParaRPr lang="en-IN" alt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336155" cy="1948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GB" sz="1400" dirty="0"/>
              <a:t>Students, researchers, and industry practitioners lack an accessible, interactive, cloud-based tool to:</a:t>
            </a:r>
            <a:endParaRPr lang="en-US" altLang="en-GB" sz="1400" dirty="0"/>
          </a:p>
          <a:p>
            <a:pPr marL="0" indent="0">
              <a:buNone/>
            </a:pPr>
            <a:endParaRPr lang="en-US" altLang="en-GB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400" dirty="0"/>
              <a:t>Test small network optimisation problems (MaxCut) on quantum hardware simulators</a:t>
            </a:r>
            <a:endParaRPr lang="en-US" altLang="en-GB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400" dirty="0"/>
              <a:t>Compare quantum (QAOA) vs classical (brute force) solutions side-by-side with visual evidence</a:t>
            </a:r>
            <a:endParaRPr lang="en-US" altLang="en-GB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400" dirty="0"/>
              <a:t>Understand the trade-offs in solution quality, circuit depth, and execution time</a:t>
            </a:r>
            <a:endParaRPr lang="en-US" altLang="en-GB" sz="1400" dirty="0"/>
          </a:p>
          <a:p>
            <a:pPr indent="0">
              <a:buFont typeface="Arial" panose="020B0604020202020204" pitchFamily="34" charset="0"/>
              <a:buNone/>
            </a:pPr>
            <a:endParaRPr lang="en-US" altLang="en-GB" sz="1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1400" dirty="0"/>
              <a:t>Current Qiskit tutorials are notebook-based, static, and disconnected from real-world context. There is no beginner-friendly web app that lets a user pick a real industry scenario, solve it quantumly, and immediately see how it compares to the classical answer.</a:t>
            </a:r>
            <a:endParaRPr lang="en-US" altLang="en-G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7730490" cy="2197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altLang="en-G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04520" y="1785620"/>
            <a:ext cx="3614420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dirty="0"/>
              <a:t>Objectives:</a:t>
            </a:r>
            <a:endParaRPr lang="en-US" altLang="en-GB" sz="2000" dirty="0"/>
          </a:p>
          <a:p>
            <a:endParaRPr lang="en-US" altLang="en-GB" sz="1200" dirty="0"/>
          </a:p>
          <a:p>
            <a:r>
              <a:rPr lang="en-US" altLang="en-GB" sz="1400" dirty="0"/>
              <a:t>Make quantum optimisation accessible to </a:t>
            </a:r>
            <a:endParaRPr lang="en-US" altLang="en-GB" sz="1400" dirty="0"/>
          </a:p>
          <a:p>
            <a:r>
              <a:rPr lang="en-US" altLang="en-GB" sz="1400" dirty="0"/>
              <a:t>non-quantum students via an interactive web lab.</a:t>
            </a:r>
            <a:endParaRPr lang="en-US" altLang="en-GB" sz="1400" dirty="0"/>
          </a:p>
          <a:p>
            <a:r>
              <a:rPr lang="en-US" altLang="en-GB" sz="1400" dirty="0"/>
              <a:t>Provide a side-by-side quantum vs classical comparison with visual evidence</a:t>
            </a:r>
            <a:endParaRPr lang="en-US" altLang="en-GB" sz="1400" dirty="0"/>
          </a:p>
          <a:p>
            <a:r>
              <a:rPr lang="en-US" altLang="en-GB" sz="1400" dirty="0"/>
              <a:t>Map an abstract algorithm (QAOA) to 5 named real-world problems.</a:t>
            </a:r>
            <a:endParaRPr lang="en-US" altLang="en-GB" sz="1400" dirty="0"/>
          </a:p>
          <a:p>
            <a:r>
              <a:rPr lang="en-US" altLang="en-GB" sz="1400" dirty="0"/>
              <a:t>Demonstrate that quantum approaches are honest (show where they fail, not just where they win)</a:t>
            </a:r>
            <a:endParaRPr lang="en-US" altLang="en-GB" sz="1400" dirty="0"/>
          </a:p>
        </p:txBody>
      </p:sp>
      <p:sp>
        <p:nvSpPr>
          <p:cNvPr id="10" name="Text Box 9"/>
          <p:cNvSpPr txBox="1"/>
          <p:nvPr/>
        </p:nvSpPr>
        <p:spPr>
          <a:xfrm>
            <a:off x="4562475" y="1785620"/>
            <a:ext cx="3899535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dirty="0"/>
              <a:t>Novelty:</a:t>
            </a:r>
            <a:endParaRPr lang="en-US" altLang="en-US" sz="1400" dirty="0"/>
          </a:p>
          <a:p>
            <a:endParaRPr lang="en-US" altLang="en-US" sz="1400" dirty="0"/>
          </a:p>
          <a:p>
            <a:pPr algn="l">
              <a:buClrTx/>
              <a:buSzTx/>
              <a:buNone/>
            </a:pPr>
            <a:r>
              <a:rPr lang="en-US" altLang="en-GB" sz="1400" dirty="0"/>
              <a:t>Scenario picker — user chooses VLSI / Social / Data Center / Logistics / Finance, not just "a random graph"</a:t>
            </a:r>
            <a:endParaRPr lang="en-US" altLang="en-GB" sz="1400" dirty="0"/>
          </a:p>
          <a:p>
            <a:pPr algn="l">
              <a:buClrTx/>
              <a:buSzTx/>
              <a:buNone/>
            </a:pPr>
            <a:r>
              <a:rPr lang="en-US" altLang="en-GB" sz="1400" dirty="0"/>
              <a:t>3D animated landing page (Three.js + GSAP) as a team portfolio, not just a notebook</a:t>
            </a:r>
            <a:endParaRPr lang="en-US" altLang="en-GB" sz="1400" dirty="0"/>
          </a:p>
          <a:p>
            <a:pPr algn="l">
              <a:buClrTx/>
              <a:buSzTx/>
              <a:buNone/>
            </a:pPr>
            <a:r>
              <a:rPr lang="en-US" altLang="en-GB" sz="1400" dirty="0"/>
              <a:t>Modular src/ architecture — the solver is importable as a library, not locked in a notebook</a:t>
            </a:r>
            <a:endParaRPr lang="en-US" altLang="en-GB" sz="1400" dirty="0"/>
          </a:p>
          <a:p>
            <a:pPr algn="l">
              <a:buClrTx/>
              <a:buSzTx/>
              <a:buNone/>
            </a:pPr>
            <a:r>
              <a:rPr lang="en-US" altLang="en-GB" sz="1400" dirty="0"/>
              <a:t>One-line hardware swap — StatevectorSampler → Sampler(mode=backend) moves from simulator to real IBM QPU without code restructuring</a:t>
            </a:r>
            <a:endParaRPr lang="en-US" altLang="en-GB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2338070" cy="232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GB" sz="1200" dirty="0">
                <a:sym typeface="+mn-ea"/>
              </a:rPr>
              <a:t>The solution: A Streamlit web app that:</a:t>
            </a:r>
            <a:endParaRPr lang="en-US" altLang="en-GB" sz="1200" dirty="0"/>
          </a:p>
          <a:p>
            <a:pPr marL="0" indent="0">
              <a:buNone/>
            </a:pPr>
            <a:endParaRPr lang="en-US" alt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200" dirty="0">
                <a:sym typeface="+mn-ea"/>
              </a:rPr>
              <a:t>Generates a graph from a chosen real-world scenario</a:t>
            </a:r>
            <a:endParaRPr lang="en-US" alt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200" dirty="0">
                <a:sym typeface="+mn-ea"/>
              </a:rPr>
              <a:t>Solves MaxCut using classical brute force (2</a:t>
            </a:r>
            <a:r>
              <a:rPr lang="en-US" altLang="en-US" sz="1200" dirty="0">
                <a:sym typeface="+mn-ea"/>
              </a:rPr>
              <a:t>ⁿ</a:t>
            </a:r>
            <a:r>
              <a:rPr lang="en-US" altLang="en-GB" sz="1200" dirty="0">
                <a:sym typeface="+mn-ea"/>
              </a:rPr>
              <a:t> possibilities)</a:t>
            </a:r>
            <a:endParaRPr lang="en-US" alt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200" dirty="0">
                <a:sym typeface="+mn-ea"/>
              </a:rPr>
              <a:t>Solves MaxCut using QAOA (variational quantum algorithm) on Qiskit Aer</a:t>
            </a:r>
            <a:endParaRPr lang="en-US" alt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200" dirty="0">
                <a:sym typeface="+mn-ea"/>
              </a:rPr>
              <a:t>Presents both answers side-by-side with timing, accuracy, and a verdict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46760" y="3301365"/>
            <a:ext cx="7713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12" name="Text Box 11"/>
          <p:cNvSpPr txBox="1"/>
          <p:nvPr/>
        </p:nvSpPr>
        <p:spPr>
          <a:xfrm flipV="1">
            <a:off x="4196715" y="1864995"/>
            <a:ext cx="2768600" cy="10096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1800"/>
              </a:spcBef>
              <a:spcAft>
                <a:spcPct val="0"/>
              </a:spcAft>
            </a:pPr>
            <a:endParaRPr lang="en-US" altLang="zh-CN" sz="1600" b="0" i="0">
              <a:solidFill>
                <a:srgbClr val="C9C9CA"/>
              </a:solidFill>
              <a:latin typeface="Inter Variable"/>
              <a:ea typeface="Inter Variable"/>
            </a:endParaRPr>
          </a:p>
        </p:txBody>
      </p:sp>
      <p:graphicFrame>
        <p:nvGraphicFramePr>
          <p:cNvPr id="14" name="Table 13"/>
          <p:cNvGraphicFramePr/>
          <p:nvPr>
            <p:custDataLst>
              <p:tags r:id="rId1"/>
            </p:custDataLst>
          </p:nvPr>
        </p:nvGraphicFramePr>
        <p:xfrm>
          <a:off x="3564255" y="1748790"/>
          <a:ext cx="4817745" cy="2802890"/>
        </p:xfrm>
        <a:graphic>
          <a:graphicData uri="http://schemas.openxmlformats.org/drawingml/2006/table">
            <a:tbl>
              <a:tblPr firstCol="1">
                <a:tableStyleId>{69CF1AB2-1976-4502-BF36-3FF5EA218861}</a:tableStyleId>
              </a:tblPr>
              <a:tblGrid>
                <a:gridCol w="1605915"/>
                <a:gridCol w="1605915"/>
                <a:gridCol w="1605915"/>
              </a:tblGrid>
              <a:tr h="3263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Aspect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Classical 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Quantum</a:t>
                      </a:r>
                      <a:endParaRPr lang="en-IN" altLang="en-GB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Scaling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2</a:t>
                      </a:r>
                      <a:r>
                        <a:rPr lang="en-IN" altLang="en-GB" sz="1400" baseline="30000"/>
                        <a:t>n</a:t>
                      </a:r>
                      <a:endParaRPr lang="en-IN" altLang="en-GB" sz="1400" baseline="30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/>
                        <a:t>Polynomial in circuit dept</a:t>
                      </a:r>
                      <a:r>
                        <a:rPr lang="en-IN" altLang="en-US" sz="1400"/>
                        <a:t>h</a:t>
                      </a:r>
                      <a:endParaRPr lang="en-IN" altLang="en-US" sz="1400"/>
                    </a:p>
                  </a:txBody>
                  <a:tcPr/>
                </a:tc>
              </a:tr>
              <a:tr h="3263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n=4 (demo)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Instant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Instant</a:t>
                      </a:r>
                      <a:endParaRPr lang="en-IN" altLang="en-GB" sz="1400"/>
                    </a:p>
                  </a:txBody>
                  <a:tcPr/>
                </a:tc>
              </a:tr>
              <a:tr h="8159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n=30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~1B evaluations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Still runs in seconds(on simulator</a:t>
                      </a:r>
                      <a:endParaRPr lang="en-IN" altLang="en-GB" sz="1400"/>
                    </a:p>
                  </a:txBody>
                  <a:tcPr/>
                </a:tc>
              </a:tr>
              <a:tr h="8159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n=100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Almost Impossible</a:t>
                      </a:r>
                      <a:endParaRPr lang="en-IN" altLang="en-GB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1400"/>
                        <a:t>Feasible with NISQ-era Hardware.</a:t>
                      </a:r>
                      <a:endParaRPr lang="en-IN" altLang="en-GB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822960" y="49710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80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C9C9CA"/>
                </a:solidFill>
                <a:latin typeface="Inter Variable"/>
                <a:ea typeface="Inter Variable"/>
              </a:rPr>
              <a:t>Quantum advantage (honest framing):</a:t>
            </a:r>
            <a:endParaRPr lang="en-US" altLang="zh-CN" sz="1600" b="0" i="0">
              <a:solidFill>
                <a:srgbClr val="C9C9CA"/>
              </a:solidFill>
              <a:latin typeface="Inter Variable"/>
              <a:ea typeface="Inter Variable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139440" y="1685290"/>
            <a:ext cx="182880" cy="297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/>
              <a:t>|</a:t>
            </a:r>
            <a:endParaRPr lang="en-IN" altLang="en-GB"/>
          </a:p>
          <a:p>
            <a:pPr algn="ctr"/>
            <a:r>
              <a:rPr lang="en-IN" altLang="en-GB" sz="2400"/>
              <a:t>|</a:t>
            </a:r>
            <a:endParaRPr lang="en-IN" altLang="en-GB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circuit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qc.draw("mpl")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2684145" cy="25012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en-GB" sz="1400" dirty="0"/>
              <a:t>Parameters: γ</a:t>
            </a:r>
            <a:r>
              <a:rPr lang="en-US" altLang="en-US" sz="1400" dirty="0"/>
              <a:t>₁</a:t>
            </a:r>
            <a:r>
              <a:rPr lang="en-US" altLang="en-GB" sz="1400" dirty="0"/>
              <a:t>…γ</a:t>
            </a:r>
            <a:r>
              <a:rPr lang="en-US" altLang="en-US" sz="1400" dirty="0"/>
              <a:t>ₚ</a:t>
            </a:r>
            <a:r>
              <a:rPr lang="en-US" altLang="en-GB" sz="1400" dirty="0"/>
              <a:t> (cost angles), β</a:t>
            </a:r>
            <a:r>
              <a:rPr lang="en-US" altLang="en-US" sz="1400" dirty="0"/>
              <a:t>₁</a:t>
            </a:r>
            <a:r>
              <a:rPr lang="en-US" altLang="en-GB" sz="1400" dirty="0"/>
              <a:t>…β</a:t>
            </a:r>
            <a:r>
              <a:rPr lang="en-US" altLang="en-US" sz="1400" dirty="0"/>
              <a:t>ₚ</a:t>
            </a:r>
            <a:r>
              <a:rPr lang="en-US" altLang="en-GB" sz="1400" dirty="0"/>
              <a:t> (mixer angles) — optimized classically by COBYLA to minimize the expected energy (maximize cut value).</a:t>
            </a:r>
            <a:endParaRPr lang="en-US" altLang="en-GB" sz="1400" dirty="0"/>
          </a:p>
          <a:p>
            <a:pPr marL="0" indent="0">
              <a:buNone/>
            </a:pP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Classical baseline: Brute force — iterate all 2</a:t>
            </a:r>
            <a:r>
              <a:rPr lang="en-US" altLang="en-US" sz="1400" dirty="0"/>
              <a:t>ⁿ</a:t>
            </a:r>
            <a:r>
              <a:rPr lang="en-US" altLang="en-GB" sz="1400" dirty="0"/>
              <a:t> bitstrings, count cut edges, return the maximum. Exact but exponential.</a:t>
            </a:r>
            <a:endParaRPr lang="en-US" altLang="en-G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3" name="Picture 12" descr="QFF-HC-Circ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15" y="1774190"/>
            <a:ext cx="481838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9" name="Table 8"/>
          <p:cNvGraphicFramePr/>
          <p:nvPr/>
        </p:nvGraphicFramePr>
        <p:xfrm>
          <a:off x="640080" y="1944370"/>
          <a:ext cx="7863840" cy="247967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931920"/>
                <a:gridCol w="3931920"/>
              </a:tblGrid>
              <a:tr h="66865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Quantum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Qiskit 2.x · QAOA (p=1,2,3) · COBYLA · StatevectorSampler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45275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Classical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Brute-force 2ⁿ enumeration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45275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Graph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NetworkX 3.4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45275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UI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Streamlit + Three.js + GSAP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45275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Lang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Python 3.12 · venv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11" name="Table 10"/>
          <p:cNvGraphicFramePr/>
          <p:nvPr>
            <p:custDataLst>
              <p:tags r:id="rId1"/>
            </p:custDataLst>
          </p:nvPr>
        </p:nvGraphicFramePr>
        <p:xfrm>
          <a:off x="5724525" y="1990090"/>
          <a:ext cx="2821305" cy="2374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0435"/>
                <a:gridCol w="940435"/>
                <a:gridCol w="940435"/>
              </a:tblGrid>
              <a:tr h="36893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Metric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Classical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/>
                        <a:t>Qua</a:t>
                      </a:r>
                      <a:r>
                        <a:rPr lang="en-IN" altLang="en-US" sz="1200"/>
                        <a:t>n-</a:t>
                      </a:r>
                      <a:r>
                        <a:rPr lang="en-US" altLang="zh-CN" sz="1200"/>
                        <a:t>tum (QAOA)</a:t>
                      </a:r>
                      <a:endParaRPr lang="en-US" altLang="zh-CN" sz="1200"/>
                    </a:p>
                  </a:txBody>
                  <a:tcPr marL="114617" marR="457517" marT="76517" marB="76517" anchor="t" anchorCtr="0"/>
                </a:tc>
              </a:tr>
              <a:tr h="49911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Max Cut Value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4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4 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36195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Time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0.02 ms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120 ms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671195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Method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Brute force (16 checks)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QAOA p=2 (COBYLA, 200 iter)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</a:tbl>
          </a:graphicData>
        </a:graphic>
      </p:graphicFrame>
      <p:pic>
        <p:nvPicPr>
          <p:cNvPr id="10" name="Picture 9" descr="graph_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779270"/>
            <a:ext cx="2011045" cy="2694940"/>
          </a:xfrm>
          <a:prstGeom prst="rect">
            <a:avLst/>
          </a:prstGeom>
        </p:spPr>
      </p:pic>
      <p:pic>
        <p:nvPicPr>
          <p:cNvPr id="12" name="Picture 11" descr="comparison_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75" y="1779270"/>
            <a:ext cx="2320290" cy="1214120"/>
          </a:xfrm>
          <a:prstGeom prst="rect">
            <a:avLst/>
          </a:prstGeom>
        </p:spPr>
      </p:pic>
      <p:pic>
        <p:nvPicPr>
          <p:cNvPr id="13" name="Picture 12" descr="density_swe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775" y="3075305"/>
            <a:ext cx="2320290" cy="1370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9" name="Table 8"/>
          <p:cNvGraphicFramePr/>
          <p:nvPr/>
        </p:nvGraphicFramePr>
        <p:xfrm>
          <a:off x="640080" y="1807210"/>
          <a:ext cx="7863840" cy="27584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Industry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Problem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MaxCut Mapping</a:t>
                      </a:r>
                      <a:endParaRPr lang="en-US" altLang="zh-CN" sz="1100"/>
                    </a:p>
                  </a:txBody>
                  <a:tcPr marL="114617" marR="457517" marT="76517" marB="76517" anchor="t" anchorCtr="0"/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Semiconductor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VLSI floorplanning — split a chip into 2 sub-chips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Minimise inter-chip wires (cost + signal delay)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Cloud Computing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Data-center rack partitioning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Minimise cross-rack network traffic (latency)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Social Media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Community detection in user graphs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Find natural 2-group split for recommendations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Logistics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Fleet routing — split deliveries between trucks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Maximise route efficiency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Finance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Portfolio allocation — buy vs sell split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Maximise expected return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640080" y="1851660"/>
          <a:ext cx="3270250" cy="27736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635125"/>
                <a:gridCol w="1635125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Challenge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Fix</a:t>
                      </a:r>
                      <a:endParaRPr lang="en-US" altLang="zh-CN" sz="1100"/>
                    </a:p>
                  </a:txBody>
                  <a:tcPr marL="114617" marR="457517" marT="76517" marB="76517" anchor="t" anchorCtr="0">
                    <a:solidFill>
                      <a:srgbClr val="DDE2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Qiskit 2.x API breaks (QuantumInstance, to_ising()</a:t>
                      </a:r>
                      <a:r>
                        <a:rPr lang="en-US" altLang="zh-CN" sz="1100"/>
                        <a:t>)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Migrated to </a:t>
                      </a:r>
                      <a:r>
                        <a:rPr lang="en-US" altLang="zh-CN" sz="1100"/>
                        <a:t>MinimumEigenOptimizer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F9E9EE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NetworkX 3.4 removed </a:t>
                      </a:r>
                      <a:r>
                        <a:rPr lang="en-US" altLang="zh-CN" sz="1100"/>
                        <a:t>gnp_graph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Replaced with </a:t>
                      </a:r>
                      <a:r>
                        <a:rPr lang="en-US" altLang="zh-CN" sz="1100"/>
                        <a:t>erdos_renyi_graph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QAOA misses optimal at n=6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Stated honestly; increased p as mitigation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Streamlit + Three.js iframe sizing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Fixed with </a:t>
                      </a:r>
                      <a:r>
                        <a:rPr lang="en-US" altLang="zh-CN" sz="1100"/>
                        <a:t>html(height=1400)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4730115" y="1779905"/>
          <a:ext cx="3225800" cy="27736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612900"/>
                <a:gridCol w="1612900"/>
              </a:tblGrid>
              <a:tr h="32004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Future Scope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Effort</a:t>
                      </a:r>
                      <a:endParaRPr lang="en-US" altLang="zh-CN" sz="1100"/>
                    </a:p>
                  </a:txBody>
                  <a:tcPr marL="114617" marR="457517" marT="76517" marB="76517" anchor="t" anchorCtr="0">
                    <a:solidFill>
                      <a:srgbClr val="DDE2FC"/>
                    </a:solidFill>
                  </a:tcPr>
                </a:tc>
              </a:tr>
              <a:tr h="65532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Run on real IBM QPU (one-line swap)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10 min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65532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Add noise model (depolarising channel)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30 min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</a:tr>
              <a:tr h="65532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Scale to n=8–12 with SPSA optimiser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1 hr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</a:tr>
              <a:tr h="487680"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Deploy live URL (Streamlit Cloud)</a:t>
                      </a:r>
                      <a:endParaRPr lang="en-US" altLang="zh-CN" sz="1100"/>
                    </a:p>
                  </a:txBody>
                  <a:tcPr marL="114617" marR="114617" marT="76517" marB="76517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/>
                        <a:t>15 min</a:t>
                      </a:r>
                      <a:endParaRPr lang="en-US" altLang="zh-CN" sz="1100"/>
                    </a:p>
                  </a:txBody>
                  <a:tcPr marL="114617" marR="114617" marT="76517" marB="76517" anchor="t" anchorCtr="0">
                    <a:solidFill>
                      <a:srgbClr val="DDE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50440" cy="73215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</a:t>
            </a:r>
            <a:endParaRPr lang="en-US" sz="900" b="1" kern="0" spc="100" dirty="0">
              <a:solidFill>
                <a:srgbClr val="5B3B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altLang="en-US" sz="900" dirty="0"/>
              <a:t>https://github.com/vtu-qiskit-fall-fest-2026/vtu-hc-dark-scorpions</a:t>
            </a:r>
            <a:endParaRPr lang="en-US" alt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336165" cy="73279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endParaRPr lang="en-US" altLang="en-US" sz="900" dirty="0"/>
          </a:p>
          <a:p>
            <a:pPr marL="0" indent="0" algn="l">
              <a:buNone/>
            </a:pPr>
            <a:r>
              <a:rPr lang="en-US" altLang="en-US" sz="900" dirty="0"/>
              <a:t>https://youtu.be/fnulXvdBycc?si=cnmr3JW3-_TKSpm4</a:t>
            </a:r>
            <a:endParaRPr lang="en-US" alt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79*216"/>
  <p:tag name="TABLE_ENDDRAG_RECT" val="297*132*379*216"/>
</p:tagLst>
</file>

<file path=ppt/tags/tag2.xml><?xml version="1.0" encoding="utf-8"?>
<p:tagLst xmlns:p="http://schemas.openxmlformats.org/presentationml/2006/main">
  <p:tag name="TABLE_ENDDRAG_ORIGIN_RECT" val="222*186"/>
  <p:tag name="TABLE_ENDDRAG_RECT" val="450*156*222*187"/>
</p:tagLst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4291</Words>
  <Application>WPS Presentation</Application>
  <PresentationFormat/>
  <Paragraphs>281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Nirmala UI</vt:lpstr>
      <vt:lpstr>Nirmala UI</vt:lpstr>
      <vt:lpstr>Nirmala UI</vt:lpstr>
      <vt:lpstr>Calibri</vt:lpstr>
      <vt:lpstr>Calibri</vt:lpstr>
      <vt:lpstr>Calibri</vt:lpstr>
      <vt:lpstr>Georgia</vt:lpstr>
      <vt:lpstr>Georgia</vt:lpstr>
      <vt:lpstr>Georgia</vt:lpstr>
      <vt:lpstr>Inter Variable</vt:lpstr>
      <vt:lpstr>Segoe Print</vt:lpstr>
      <vt:lpstr>Microsoft YaHei</vt:lpstr>
      <vt:lpstr>Arial Unicode MS</vt:lpstr>
      <vt:lpstr>Aptos</vt:lpstr>
      <vt:lpstr>Segoe UI</vt:lpstr>
      <vt:lpstr>Qiskit Fall Fest</vt:lpstr>
      <vt:lpstr>PowerPoint 演示文稿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HP</cp:lastModifiedBy>
  <cp:revision>8</cp:revision>
  <dcterms:created xsi:type="dcterms:W3CDTF">2026-10-22T10:44:00Z</dcterms:created>
  <dcterms:modified xsi:type="dcterms:W3CDTF">2026-10-23T09:28:02Z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CE08FA2A274B431C9E056597A2FDD195_12</vt:lpwstr>
  </property>
  <property fmtid="{D5CDD505-2E9C-101B-9397-08002B2CF9AE}" pid="3" name="KSOProductBuildVer">
    <vt:lpwstr>1033-12.1.0.29162</vt:lpwstr>
  </property>
</Properties>
</file>